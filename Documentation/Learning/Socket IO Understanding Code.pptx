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6" r:id="rId4"/>
    <p:sldId id="261" r:id="rId5"/>
    <p:sldId id="257" r:id="rId6"/>
    <p:sldId id="259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53D61C-6D74-F088-748E-FFA877901650}" v="1203" dt="2025-11-22T04:15:37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7:35:18.0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16369 3669 16383 0 0,'5'0'0'0'0,"13"-5"0"0"0,8-8 0 0 0,5-6 0 0 0,3-5 0 0 0,6-5 0 0 0,6-1 0 0 0,12-2 0 0 0,7-1 0 0 0,7 1 0 0 0,9 0 0 0 0,5 0 0 0 0,4 0 0 0 0,3 1 0 0 0,-4-1 0 0 0,-1-4 0 0 0,1-2 0 0 0,-11 5 0 0 0,4 4 0 0 0,8 1 0 0 0,0 5 0 0 0,6 1 0 0 0,-3 5 0 0 0,14 0 0 0 0,11-3 0 0 0,1-3 0 0 0,-15 2 0 0 0,-14 5 0 0 0,-7 0 0 0 0,-7 2 0 0 0,0 4 0 0 0,8 4 0 0 0,6 2 0 0 0,3 3 0 0 0,1 1 0 0 0,12 0 0 0 0,4 1 0 0 0,-2-1 0 0 0,8-10 0 0 0,0-9 0 0 0,-9-1 0 0 0,-7 3 0 0 0,-5-1 0 0 0,-13 2 0 0 0,-9 4 0 0 0,-3 5 0 0 0,10 2 0 0 0,6 3 0 0 0,4 2 0 0 0,3 0 0 0 0,2 1 0 0 0,11 0 0 0 0,29 5 0 0 0,25 6 0 0 0,21 8 0 0 0,12 10 0 0 0,-1 5 0 0 0,-11 3 0 0 0,-16-1 0 0 0,-30-6 0 0 0,-33-3 0 0 0,-29-7 0 0 0,-16-1 0 0 0,-12 1 0 0 0,-9 3 0 0 0,-5-4 0 0 0,-2 1 0 0 0,-7 2 0 0 0,-1 2 0 0 0,1 3 0 0 0,-4 1 0 0 0,2 1 0 0 0,-4 1 0 0 0,-4 1 0 0 0,-5-1 0 0 0,-2 1 0 0 0,-3-1 0 0 0,-2 1 0 0 0,-1-6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7:35:18.0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13653 4575 16383 0 0,'10'0'0'0'0,"15"0"0"0"0,18 0 0 0 0,18 0 0 0 0,20 0 0 0 0,12 0 0 0 0,6 0 0 0 0,13 0 0 0 0,3 0 0 0 0,3 0 0 0 0,8 0 0 0 0,4 0 0 0 0,6 0 0 0 0,1 0 0 0 0,9 0 0 0 0,12 0 0 0 0,15 0 0 0 0,22 0 0 0 0,8 0 0 0 0,3 0 0 0 0,-9 0 0 0 0,-21 0 0 0 0,-30 0 0 0 0,-24 5 0 0 0,-27 2 0 0 0,-20 0 0 0 0,-11-2 0 0 0,-7-1 0 0 0,-2-2 0 0 0,0 0 0 0 0,2-2 0 0 0,1 0 0 0 0,2 0 0 0 0,-5 0 0 0 0,-6-1 0 0 0,-5 1 0 0 0,-6 0 0 0 0,-4 0 0 0 0,3 0 0 0 0,6 0 0 0 0,6 0 0 0 0,5 0 0 0 0,10 0 0 0 0,9 0 0 0 0,14 0 0 0 0,18 0 0 0 0,19 5 0 0 0,8 7 0 0 0,-7 2 0 0 0,1 3 0 0 0,-15 0 0 0 0,-10 1 0 0 0,-13-2 0 0 0,-10-4 0 0 0,-8-3 0 0 0,-5-4 0 0 0,2-3 0 0 0,1-1 0 0 0,-2-1 0 0 0,0-1 0 0 0,4 0 0 0 0,0 0 0 0 0,0 1 0 0 0,-2-1 0 0 0,-2 1 0 0 0,3 0 0 0 0,2 0 0 0 0,-2 0 0 0 0,-2 0 0 0 0,5 0 0 0 0,-1 0 0 0 0,4 0 0 0 0,0 0 0 0 0,-2 0 0 0 0,-9 0 0 0 0,-9 0 0 0 0,-9 0 0 0 0,-7 0 0 0 0,-5 0 0 0 0,-3 0 0 0 0,-1 0 0 0 0,-1 0 0 0 0,0 0 0 0 0,1 0 0 0 0,0 0 0 0 0,0 0 0 0 0,1 0 0 0 0,5 0 0 0 0,2 0 0 0 0,6 0 0 0 0,5 0 0 0 0,5 0 0 0 0,4 0 0 0 0,-3 0 0 0 0,1 0 0 0 0,-5 0 0 0 0,-6 0 0 0 0,-4 0 0 0 0,-5 0 0 0 0,3 0 0 0 0,-1 0 0 0 0,-1 0 0 0 0,4 0 0 0 0,0 0 0 0 0,4 0 0 0 0,-1 0 0 0 0,-2 0 0 0 0,-4 0 0 0 0,-2 0 0 0 0,-2 0 0 0 0,-2 0 0 0 0,-1 0 0 0 0,0 0 0 0 0,5 0 0 0 0,7 0 0 0 0,6 0 0 0 0,7 0 0 0 0,-2 0 0 0 0,-5 0 0 0 0,-5 0 0 0 0,-5 0 0 0 0,-4 0 0 0 0,-2 0 0 0 0,-2 0 0 0 0,0 0 0 0 0,-1 0 0 0 0,0 0 0 0 0,0 0 0 0 0,6 0 0 0 0,2 0 0 0 0,-1 0 0 0 0,0 0 0 0 0,-2 0 0 0 0,-2-5 0 0 0,0-2 0 0 0,-1 0 0 0 0,-1-4 0 0 0,-6-5 0 0 0,-6-5 0 0 0,-7-5 0 0 0,-6-8 0 0 0,-3-4 0 0 0,-3 0 0 0 0,-1 0 0 0 0,0 2 0 0 0,-1 2 0 0 0,1-5 0 0 0,1 0 0 0 0,-1 1 0 0 0,1-3 0 0 0,0-1 0 0 0,0 2 0 0 0,0 2 0 0 0,0 3 0 0 0,0 2 0 0 0,0 1 0 0 0,0 0 0 0 0,-5-4 0 0 0,-8-7 0 0 0,-6-7 0 0 0,-5-5 0 0 0,-5 1 0 0 0,-1 0 0 0 0,3 3 0 0 0,2 5 0 0 0,4 5 0 0 0,7-1 0 0 0,-1-3 0 0 0,-2-1 0 0 0,2 4 0 0 0,2 2 0 0 0,10-2 0 0 0,16 2 0 0 0,16 6 0 0 0,29 4 0 0 0,16 8 0 0 0,27 1 0 0 0,17 0 0 0 0,26-8 0 0 0,20-3 0 0 0,9 3 0 0 0,7 6 0 0 0,-7 8 0 0 0,-6 6 0 0 0,1-1 0 0 0,-13 1 0 0 0,-6-2 0 0 0,-17 0 0 0 0,-22 2 0 0 0,-13-3 0 0 0,-17 1 0 0 0,-18 2 0 0 0,-13 2 0 0 0,-11-2 0 0 0,-6 0 0 0 0,-2 2 0 0 0,3 1 0 0 0,12 3 0 0 0,14 1 0 0 0,24 1 0 0 0,19 1 0 0 0,19 0 0 0 0,4 1 0 0 0,-8-1 0 0 0,-19 0 0 0 0,-21 0 0 0 0,-18-5 0 0 0,-14-2 0 0 0,-9 1 0 0 0,0-5 0 0 0,-1 0 0 0 0,-2 2 0 0 0,0 2 0 0 0,-1 3 0 0 0,0 2 0 0 0,-1 6 0 0 0,0 13 0 0 0,-6 10 0 0 0,-6 9 0 0 0,-2 16 0 0 0,-3 4 0 0 0,-5 3 0 0 0,-3-4 0 0 0,2 1 0 0 0,0-6 0 0 0,-1-4 0 0 0,3-1 0 0 0,0-2 0 0 0,-1-3 0 0 0,2-3 0 0 0,0-3 0 0 0,-2-1 0 0 0,-3-2 0 0 0,-2 0 0 0 0,-2-1 0 0 0,-1 1 0 0 0,-1-1 0 0 0,0 1 0 0 0,-1 0 0 0 0,1 0 0 0 0,-1 0 0 0 0,1 0 0 0 0,0 0 0 0 0,0 1 0 0 0,0-1 0 0 0,0 0 0 0 0,0 0 0 0 0,0 0 0 0 0,0 0 0 0 0,0 0 0 0 0,0 1 0 0 0,0-1 0 0 0,5 0 0 0 0,2 0 0 0 0,0-5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7:35:18.0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20532 3575 16383 0 0,'5'-5'0'0'0,"7"-2"0"0"0,13 0 0 0 0,11 7 0 0 0,6 8 0 0 0,7 9 0 0 0,4 6 0 0 0,0 0 0 0 0,-5-5 0 0 0,-5-5 0 0 0,1 1 0 0 0,-2 3 0 0 0,-2 4 0 0 0,-4-2 0 0 0,-1 1 0 0 0,-3 3 0 0 0,5-2 0 0 0,1-11 0 0 0,-1-17 0 0 0,4-18 0 0 0,6-16 0 0 0,11-11 0 0 0,5-2 0 0 0,-7 3 0 0 0,-8 5 0 0 0,-7-1 0 0 0,-5 8 0 0 0,-4 5 0 0 0,-1 4 0 0 0,-1 0 0 0 0,-1-4 0 0 0,-4 4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0T07:35:18.0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17286 3819 16383 0 0,'0'10'0'0'0,"0"15"0"0"0,0 24 0 0 0,0 14 0 0 0,0 12 0 0 0,0 4 0 0 0,0 5 0 0 0,0 9 0 0 0,0 4 0 0 0,0 2 0 0 0,0 0 0 0 0,0-1 0 0 0,0 4 0 0 0,5 16 0 0 0,2-1 0 0 0,0-4 0 0 0,-1-12 0 0 0,-3-11 0 0 0,0-12 0 0 0,-2-7 0 0 0,5 5 0 0 0,1-6 0 0 0,-1-3 0 0 0,0-3 0 0 0,-3-2 0 0 0,-1-5 0 0 0,-1-9 0 0 0,0-5 0 0 0,-1-6 0 0 0,-1-4 0 0 0,1 3 0 0 0,0 2 0 0 0,0-2 0 0 0,-1-1 0 0 0,1-1 0 0 0,0-1 0 0 0,0-1 0 0 0,0-1 0 0 0,0 0 0 0 0,0 0 0 0 0,0 5 0 0 0,0 2 0 0 0,0 0 0 0 0,0-2 0 0 0,0-1 0 0 0,0 4 0 0 0,0 6 0 0 0,0 5 0 0 0,0 6 0 0 0,0 3 0 0 0,0 3 0 0 0,0 0 0 0 0,0 2 0 0 0,0 4 0 0 0,11 8 0 0 0,3-4 0 0 0,-1-5 0 0 0,-2-1 0 0 0,-3-9 0 0 0,-3-7 0 0 0,-3-2 0 0 0,-1 1 0 0 0,-1 4 0 0 0,0 2 0 0 0,-1-2 0 0 0,1 0 0 0 0,-1 2 0 0 0,1 2 0 0 0,0-3 0 0 0,0-6 0 0 0,0-6 0 0 0,0-4 0 0 0,0 2 0 0 0,0-1 0 0 0,0 3 0 0 0,0 1 0 0 0,0-3 0 0 0,0-2 0 0 0,0 3 0 0 0,0 5 0 0 0,0 0 0 0 0,0 3 0 0 0,0-2 0 0 0,0-4 0 0 0,0 2 0 0 0,0 4 0 0 0,0-2 0 0 0,0-2 0 0 0,0 0 0 0 0,0-1 0 0 0,0-3 0 0 0,0 7 0 0 0,0 1 0 0 0,0-3 0 0 0,-6 7 0 0 0,-1 0 0 0 0,1-4 0 0 0,0-5 0 0 0,2-5 0 0 0,2-4 0 0 0,1-2 0 0 0,0 4 0 0 0,1 0 0 0 0,0 0 0 0 0,-5-1 0 0 0,-1-2 0 0 0,-1-1 0 0 0,2-1 0 0 0,1 0 0 0 0,2-1 0 0 0,1 0 0 0 0,0-1 0 0 0,1 1 0 0 0,0 0 0 0 0,1 0 0 0 0,-1 0 0 0 0,0 0 0 0 0,0 0 0 0 0,0 1 0 0 0,0-1 0 0 0,0 0 0 0 0,0 0 0 0 0,0 0 0 0 0,0 0 0 0 0,0 0 0 0 0,0 1 0 0 0,0-1 0 0 0,0 0 0 0 0,0 0 0 0 0,0 0 0 0 0,0 0 0 0 0,0 0 0 0 0,0 0 0 0 0,0 1 0 0 0,0-1 0 0 0,0 0 0 0 0,0 0 0 0 0,0 0 0 0 0,6 0 0 0 0,11 0 0 0 0,9-5 0 0 0,6-7 0 0 0,7-7 0 0 0,7-5 0 0 0,3-4 0 0 0,2-3 0 0 0,3-1 0 0 0,4 0 0 0 0,-4-1 0 0 0,1 1 0 0 0,-5 0 0 0 0,-5 1 0 0 0,-5 0 0 0 0,2-1 0 0 0,3 1 0 0 0,0 0 0 0 0,3 1 0 0 0,4-1 0 0 0,8-6 0 0 0,1-1 0 0 0,-1 1 0 0 0,0 0 0 0 0,-4 2 0 0 0,-6 2 0 0 0,-2 1 0 0 0,2 0 0 0 0,3 1 0 0 0,-3 0 0 0 0,2 1 0 0 0,2-1 0 0 0,2 0 0 0 0,3 0 0 0 0,1 1 0 0 0,-3-1 0 0 0,-7 0 0 0 0,-1 0 0 0 0,-4 0 0 0 0,1 0 0 0 0,4 0 0 0 0,-2 0 0 0 0,-3 0 0 0 0,0 0 0 0 0,4 0 0 0 0,4 0 0 0 0,-1 0 0 0 0,0 0 0 0 0,2 0 0 0 0,3 0 0 0 0,8 0 0 0 0,2 0 0 0 0,2 0 0 0 0,-2 0 0 0 0,5 0 0 0 0,0 0 0 0 0,4 0 0 0 0,0 0 0 0 0,-3 0 0 0 0,-3 0 0 0 0,-3 0 0 0 0,-2 0 0 0 0,-2 0 0 0 0,0 0 0 0 0,-2 0 0 0 0,1 0 0 0 0,-6 0 0 0 0,-6 0 0 0 0,-2 0 0 0 0,-3 0 0 0 0,-5 0 0 0 0,2 0 0 0 0,0 0 0 0 0,2 0 0 0 0,-1 0 0 0 0,4 0 0 0 0,3 0 0 0 0,5 0 0 0 0,3 0 0 0 0,2 0 0 0 0,-4 0 0 0 0,0 0 0 0 0,0 0 0 0 0,7 0 0 0 0,-2 0 0 0 0,-1 5 0 0 0,-5 2 0 0 0,-2 0 0 0 0,-4-2 0 0 0,5 4 0 0 0,5 1 0 0 0,2-2 0 0 0,1-2 0 0 0,-4-3 0 0 0,-7 0 0 0 0,-1-2 0 0 0,11-1 0 0 0,2 0 0 0 0,0-1 0 0 0,-1 1 0 0 0,1-1 0 0 0,-5 1 0 0 0,-3 0 0 0 0,-4 0 0 0 0,-7 0 0 0 0,-4 0 0 0 0,0 0 0 0 0,5 0 0 0 0,11 0 0 0 0,16 0 0 0 0,12 0 0 0 0,3 0 0 0 0,2 0 0 0 0,-4 0 0 0 0,-5 0 0 0 0,-6 0 0 0 0,-4 0 0 0 0,-5 0 0 0 0,-2 0 0 0 0,-1 0 0 0 0,-1 0 0 0 0,0 0 0 0 0,1 0 0 0 0,-1 0 0 0 0,1 0 0 0 0,5 5 0 0 0,-3 2 0 0 0,-8 0 0 0 0,-2-2 0 0 0,0-1 0 0 0,-3-1 0 0 0,-6-2 0 0 0,-5-1 0 0 0,-4 0 0 0 0,-3 0 0 0 0,4 0 0 0 0,0 0 0 0 0,0-1 0 0 0,-1 1 0 0 0,-2 0 0 0 0,-1 0 0 0 0,-1 0 0 0 0,-1 0 0 0 0,0 0 0 0 0,0 0 0 0 0,0 0 0 0 0,0 0 0 0 0,0 0 0 0 0,5 0 0 0 0,2 0 0 0 0,0 0 0 0 0,-2 0 0 0 0,-1 0 0 0 0,-1 0 0 0 0,-2 0 0 0 0,0 0 0 0 0,-1 0 0 0 0,0 0 0 0 0,0 0 0 0 0,0 0 0 0 0,0 0 0 0 0,-1 0 0 0 0,2 0 0 0 0,-1 0 0 0 0,0 0 0 0 0,0 0 0 0 0,0 5 0 0 0,-5 2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Socket IO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Setup step by step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2D6A43-F2F3-7B57-B87C-B666D6FE5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44054B61-614C-938C-F961-26B2010B8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5376D-FA9A-411E-3FDB-E1DFDBDF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34" y="1967266"/>
            <a:ext cx="3235916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err="1">
                <a:solidFill>
                  <a:srgbClr val="FFFFFF"/>
                </a:solidFill>
              </a:rPr>
              <a:t>SocketProvider</a:t>
            </a:r>
            <a:endParaRPr lang="en-US" err="1">
              <a:ea typeface="+mj-ea"/>
              <a:cs typeface="+mj-cs"/>
            </a:endParaRPr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61C8EC73-D1EF-68DD-8ECF-39B4F3A82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9728" y="107897"/>
            <a:ext cx="6534509" cy="628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E90AF-B5F7-B6CE-F6CC-23193B7C7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E742406D-D930-5DD0-F4F9-9451179D63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734A2-4E29-8E51-A43B-ACF4C776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734" y="1967266"/>
            <a:ext cx="3235916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err="1">
                <a:solidFill>
                  <a:srgbClr val="FFFFFF"/>
                </a:solidFill>
              </a:rPr>
              <a:t>connectSocket</a:t>
            </a:r>
            <a:endParaRPr lang="en-US" err="1">
              <a:ea typeface="+mj-ea"/>
              <a:cs typeface="+mj-cs"/>
            </a:endParaRP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ADC71CFB-E774-4157-81B2-A46F0F677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769" y="324607"/>
            <a:ext cx="6645671" cy="586242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AF69C3-737E-0C43-4544-44B7565D354A}"/>
              </a:ext>
            </a:extLst>
          </p:cNvPr>
          <p:cNvSpPr txBox="1"/>
          <p:nvPr/>
        </p:nvSpPr>
        <p:spPr>
          <a:xfrm>
            <a:off x="8706908" y="1969778"/>
            <a:ext cx="320900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It attaches your JWT (or any token) to the </a:t>
            </a:r>
            <a:r>
              <a:rPr lang="en-US" b="1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socket handshake</a:t>
            </a: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.</a:t>
            </a:r>
          </a:p>
          <a:p>
            <a:endParaRPr 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it will send this </a:t>
            </a: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latin typeface="Consolas"/>
              </a:rPr>
              <a:t>token</a:t>
            </a: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 to the server automatically,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inside the </a:t>
            </a:r>
            <a:r>
              <a:rPr lang="en-US" b="1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authentication payload</a:t>
            </a:r>
            <a:r>
              <a:rPr lang="en-US">
                <a:solidFill>
                  <a:schemeClr val="accent2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  <a:p>
            <a:endParaRPr lang="en-US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EAF6816-D2D3-247A-661A-ABF86CEB4E74}"/>
                  </a:ext>
                </a:extLst>
              </p14:cNvPr>
              <p14:cNvContentPartPr/>
              <p14:nvPr/>
            </p14:nvContentPartPr>
            <p14:xfrm>
              <a:off x="7928161" y="1186518"/>
              <a:ext cx="2220131" cy="315069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EAF6816-D2D3-247A-661A-ABF86CEB4E7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74169" y="1078618"/>
                <a:ext cx="2327754" cy="5305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2CD3F59-0AD1-3022-8BEB-43F6458D0BD7}"/>
                  </a:ext>
                </a:extLst>
              </p14:cNvPr>
              <p14:cNvContentPartPr/>
              <p14:nvPr/>
            </p14:nvContentPartPr>
            <p14:xfrm>
              <a:off x="6202455" y="1209905"/>
              <a:ext cx="4612475" cy="685174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2CD3F59-0AD1-3022-8BEB-43F6458D0BD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84456" y="1191912"/>
                <a:ext cx="4648113" cy="72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27FF0B3-8BDB-78D4-81A6-604E8D192D6C}"/>
                  </a:ext>
                </a:extLst>
              </p14:cNvPr>
              <p14:cNvContentPartPr/>
              <p14:nvPr/>
            </p14:nvContentPartPr>
            <p14:xfrm>
              <a:off x="10572749" y="1497124"/>
              <a:ext cx="447797" cy="187315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27FF0B3-8BDB-78D4-81A6-604E8D192D6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54765" y="1479148"/>
                <a:ext cx="483405" cy="2229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7AE6BF7-4FA4-D50C-6673-5C08247A6976}"/>
                  </a:ext>
                </a:extLst>
              </p14:cNvPr>
              <p14:cNvContentPartPr/>
              <p14:nvPr/>
            </p14:nvContentPartPr>
            <p14:xfrm>
              <a:off x="8510868" y="1837765"/>
              <a:ext cx="3091564" cy="2480938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7AE6BF7-4FA4-D50C-6673-5C08247A697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492871" y="1819766"/>
                <a:ext cx="3127199" cy="251657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33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E7C14-442D-2141-2470-A8E9C39C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err="1">
                <a:solidFill>
                  <a:srgbClr val="FFFFFF"/>
                </a:solidFill>
              </a:rPr>
              <a:t>GetSocket</a:t>
            </a:r>
            <a:r>
              <a:rPr lang="en-US" sz="3600">
                <a:solidFill>
                  <a:srgbClr val="FFFFFF"/>
                </a:solidFill>
              </a:rPr>
              <a:t>()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657282-6CD4-9DE2-3994-43A980337C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9187" y="643466"/>
            <a:ext cx="481695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4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D7AA1-8FA3-0ED3-831D-25E6A5761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Phase 1 – Initial Setup ( </a:t>
            </a:r>
            <a:r>
              <a:rPr lang="en-US" err="1"/>
              <a:t>Frontned</a:t>
            </a:r>
            <a:r>
              <a:rPr lang="en-US"/>
              <a:t>)</a:t>
            </a:r>
          </a:p>
        </p:txBody>
      </p:sp>
      <p:pic>
        <p:nvPicPr>
          <p:cNvPr id="4" name="Content Placeholder 3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4A4F62F-05DD-B7E3-29E6-ECA91DC60E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379" y="2022919"/>
            <a:ext cx="10201275" cy="4473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40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6430-EA90-AF95-E9AF-5CE1D757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E54B-5B93-F31C-868A-BEEB54560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A51A7-B074-A29D-BF0D-83188D140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This object allows you to:</a:t>
            </a:r>
            <a:endParaRPr lang="en-US"/>
          </a:p>
          <a:p>
            <a:r>
              <a:rPr lang="en-US" err="1">
                <a:latin typeface="Consolas"/>
              </a:rPr>
              <a:t>socket.connect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 → manually connect</a:t>
            </a:r>
            <a:endParaRPr lang="en-US"/>
          </a:p>
          <a:p>
            <a:r>
              <a:rPr lang="en-US" err="1">
                <a:latin typeface="Consolas"/>
              </a:rPr>
              <a:t>socket.emit</a:t>
            </a:r>
            <a:r>
              <a:rPr lang="en-US">
                <a:latin typeface="Consolas"/>
              </a:rPr>
              <a:t>(event, data)</a:t>
            </a:r>
            <a:r>
              <a:rPr lang="en-US">
                <a:ea typeface="+mn-lt"/>
                <a:cs typeface="+mn-lt"/>
              </a:rPr>
              <a:t> → send events</a:t>
            </a:r>
            <a:endParaRPr lang="en-US"/>
          </a:p>
          <a:p>
            <a:r>
              <a:rPr lang="en-US" err="1">
                <a:latin typeface="Consolas"/>
              </a:rPr>
              <a:t>socket.on</a:t>
            </a:r>
            <a:r>
              <a:rPr lang="en-US">
                <a:latin typeface="Consolas"/>
              </a:rPr>
              <a:t>(event, callback)</a:t>
            </a:r>
            <a:r>
              <a:rPr lang="en-US">
                <a:ea typeface="+mn-lt"/>
                <a:cs typeface="+mn-lt"/>
              </a:rPr>
              <a:t> → listen for events</a:t>
            </a:r>
            <a:endParaRPr lang="en-US"/>
          </a:p>
          <a:p>
            <a:r>
              <a:rPr lang="en-US" err="1">
                <a:latin typeface="Consolas"/>
              </a:rPr>
              <a:t>socket.disconnect</a:t>
            </a:r>
            <a:r>
              <a:rPr lang="en-US">
                <a:latin typeface="Consolas"/>
              </a:rPr>
              <a:t>()</a:t>
            </a:r>
            <a:r>
              <a:rPr lang="en-US">
                <a:ea typeface="+mn-lt"/>
                <a:cs typeface="+mn-lt"/>
              </a:rPr>
              <a:t> → disconnect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9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B454A-6861-1D26-C3BC-B3AEFD78C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A3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CCFDE3-28B5-D07D-FF5F-1CD92F49C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356" y="1837141"/>
            <a:ext cx="2697464" cy="2117262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Auth middleware (backend)</a:t>
            </a:r>
            <a:endParaRPr lang="en-US">
              <a:ea typeface="+mj-ea"/>
              <a:cs typeface="+mj-cs"/>
            </a:endParaRPr>
          </a:p>
        </p:txBody>
      </p:sp>
      <p:pic>
        <p:nvPicPr>
          <p:cNvPr id="6" name="Content Placeholder 5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3C7EA505-EDE2-3C99-E8EB-982D66309C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2883" y="419371"/>
            <a:ext cx="5993464" cy="602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63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A9CAE-F30A-B296-36F3-B9301110D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7B2CFD2-36B8-0C1F-41EC-051D463A4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207E94-5DA5-2FAD-522C-7BA455A62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A3F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35C5F9-4221-F5F1-43BF-B05533F4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5" y="2095446"/>
            <a:ext cx="4247294" cy="219475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err="1">
                <a:solidFill>
                  <a:srgbClr val="FFFFFF"/>
                </a:solidFill>
              </a:rPr>
              <a:t>InitializeSocket</a:t>
            </a:r>
            <a:r>
              <a:rPr lang="en-US" sz="2600">
                <a:solidFill>
                  <a:srgbClr val="FFFFFF"/>
                </a:solidFill>
              </a:rPr>
              <a:t>()</a:t>
            </a:r>
            <a:endParaRPr lang="en-US"/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CD57EDF-42E3-0B83-D71B-4D6B2A71C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9093" y="714913"/>
            <a:ext cx="5444051" cy="577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61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216C2-8BF0-02DC-715A-536E69F9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49000E-CA21-5748-B77C-BD0F0CCC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3043706" cy="2776509"/>
          </a:xfrm>
          <a:prstGeom prst="rect">
            <a:avLst/>
          </a:prstGeom>
          <a:solidFill>
            <a:srgbClr val="5A4760"/>
          </a:solidFill>
          <a:ln>
            <a:solidFill>
              <a:srgbClr val="5A476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(Backend)}</a:t>
            </a:r>
            <a:br>
              <a:rPr lang="en-US" sz="2800">
                <a:solidFill>
                  <a:srgbClr val="FFFFFF"/>
                </a:solidFill>
              </a:rPr>
            </a:br>
            <a:r>
              <a:rPr lang="en-US" sz="2800" err="1">
                <a:solidFill>
                  <a:srgbClr val="FFFFFF"/>
                </a:solidFill>
              </a:rPr>
              <a:t>chatSocketHandler</a:t>
            </a:r>
            <a:endParaRPr lang="en-US" sz="28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3" name="Content Placeholder 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6882BAE-2CC2-4F4B-FE44-A07205A52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9775" y="1119702"/>
            <a:ext cx="6669242" cy="49452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1D9606-340E-E6AA-B85D-2963FEA37A96}"/>
              </a:ext>
            </a:extLst>
          </p:cNvPr>
          <p:cNvSpPr txBox="1"/>
          <p:nvPr/>
        </p:nvSpPr>
        <p:spPr>
          <a:xfrm>
            <a:off x="1310485" y="3746644"/>
            <a:ext cx="236360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Now the socket is “listening” for these events.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2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27D46-717F-3C45-AA7E-2912D12D6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owchart: Document 2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43B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33F54-AE16-5F79-7127-C7A6882BD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788" y="249603"/>
            <a:ext cx="2433920" cy="15755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Frontend---</a:t>
            </a:r>
            <a:r>
              <a:rPr lang="en-US" sz="2000">
                <a:solidFill>
                  <a:srgbClr val="FFFFFF"/>
                </a:solidFill>
              </a:rPr>
              <a:t>when community is clicked </a:t>
            </a:r>
            <a:endParaRPr lang="en-US" sz="2000" kern="120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B1587C-9F92-F3B2-1B3C-BFF7F36573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76" y="1712427"/>
            <a:ext cx="3959753" cy="4286762"/>
          </a:xfrm>
          <a:prstGeom prst="rect">
            <a:avLst/>
          </a:prstGeom>
        </p:spPr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40129107-425C-6DAE-2249-E77B4BABA1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891" y="829401"/>
            <a:ext cx="7982435" cy="5134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CEBCA8-6DA2-609A-ABA2-62C3593A5024}"/>
              </a:ext>
            </a:extLst>
          </p:cNvPr>
          <p:cNvSpPr txBox="1"/>
          <p:nvPr/>
        </p:nvSpPr>
        <p:spPr>
          <a:xfrm>
            <a:off x="4201688" y="6079862"/>
            <a:ext cx="759014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We use REST for loading existing messages.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We use Socket.IO for sending messages instantly without API calls.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36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274CA-B9BB-8794-2C2C-7B8504989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A92DC0E-5252-A769-3513-4B5E8F9D40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183B3-D6EA-6962-5904-E25B28776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3043706" cy="2776509"/>
          </a:xfrm>
          <a:prstGeom prst="rect">
            <a:avLst/>
          </a:prstGeom>
          <a:solidFill>
            <a:srgbClr val="5A4760"/>
          </a:solidFill>
          <a:ln>
            <a:solidFill>
              <a:srgbClr val="5A476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Flow</a:t>
            </a:r>
            <a:br>
              <a:rPr lang="en-US" sz="2800">
                <a:solidFill>
                  <a:srgbClr val="FFFFFF"/>
                </a:solidFill>
              </a:rPr>
            </a:br>
            <a:r>
              <a:rPr lang="en-US" sz="2800">
                <a:solidFill>
                  <a:srgbClr val="FFFFFF"/>
                </a:solidFill>
              </a:rPr>
              <a:t>Frontend to backend response</a:t>
            </a:r>
            <a:endParaRPr lang="en-US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ABEFCEF-AF86-4E5E-B86E-6D655BBED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9098" y="1254125"/>
            <a:ext cx="50049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71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9D591-FB47-D72C-04BA-837395638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6646FC9-C66D-4EC7-8310-0DD4ACC49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D1F38-CD98-98E6-D7C4-614B6C7CB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/>
              <a:t>Join room process</a:t>
            </a:r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"/>
            </a:endParaRPr>
          </a:p>
        </p:txBody>
      </p:sp>
      <p:pic>
        <p:nvPicPr>
          <p:cNvPr id="5" name="Content Placeholder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817ECBF2-59A1-169D-46D0-2AEB60299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1910" y="2139484"/>
            <a:ext cx="4783451" cy="4096512"/>
          </a:xfrm>
          <a:prstGeom prst="rect">
            <a:avLst/>
          </a:prstGeom>
        </p:spPr>
      </p:pic>
      <p:pic>
        <p:nvPicPr>
          <p:cNvPr id="6" name="Picture 5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EAD116A3-A9EA-9825-84D7-007119CA3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2" y="3523200"/>
            <a:ext cx="5596128" cy="132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866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BB69CD-72D8-C110-5D56-B9C73EEFE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2D45579-1160-07E5-C47C-8878CC9A5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45F0A7-4C68-DA31-7BBD-51B366FB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727" y="135816"/>
            <a:ext cx="3043706" cy="2776509"/>
          </a:xfrm>
          <a:prstGeom prst="rect">
            <a:avLst/>
          </a:prstGeom>
          <a:solidFill>
            <a:srgbClr val="5A4760"/>
          </a:solidFill>
          <a:ln>
            <a:solidFill>
              <a:srgbClr val="5A476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Backend listener for (join-community)</a:t>
            </a:r>
            <a:endParaRPr lang="en-US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FCDD3C9-201E-0FA7-D7C2-E3CF900A3F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8320" y="1242919"/>
            <a:ext cx="476906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147EE-EFCE-49EB-50DD-771BC234BD6A}"/>
              </a:ext>
            </a:extLst>
          </p:cNvPr>
          <p:cNvSpPr txBox="1"/>
          <p:nvPr/>
        </p:nvSpPr>
        <p:spPr>
          <a:xfrm>
            <a:off x="979490" y="1893122"/>
            <a:ext cx="28656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INSIDE </a:t>
            </a:r>
            <a:r>
              <a:rPr lang="en-US" err="1"/>
              <a:t>chatSocketHandler</a:t>
            </a:r>
            <a:r>
              <a:rPr lang="en-US"/>
              <a:t> function</a:t>
            </a:r>
            <a:endParaRPr lang="en-US" sz="1100">
              <a:solidFill>
                <a:srgbClr val="DCDCAA"/>
              </a:solidFill>
              <a:latin typeface="Consolas"/>
            </a:endParaRPr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8AB0A7F-7670-364C-DB1C-28EF4DED7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875" y="2677926"/>
            <a:ext cx="4208368" cy="354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23C4A-72B0-CDBA-08BB-FD90EB60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385BF58-29CB-1C0A-EB9D-3EEEEF7DA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E80B7-06D2-5C49-4074-5C425FFE8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74" y="326316"/>
            <a:ext cx="3043706" cy="2776509"/>
          </a:xfrm>
          <a:prstGeom prst="rect">
            <a:avLst/>
          </a:prstGeom>
          <a:solidFill>
            <a:srgbClr val="5A4760"/>
          </a:solidFill>
          <a:ln>
            <a:solidFill>
              <a:srgbClr val="5A476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Frontend listener for (recent-messages)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EA204-1334-EE85-EF5D-3E70AF4CD49D}"/>
              </a:ext>
            </a:extLst>
          </p:cNvPr>
          <p:cNvSpPr txBox="1"/>
          <p:nvPr/>
        </p:nvSpPr>
        <p:spPr>
          <a:xfrm>
            <a:off x="1405314" y="2453416"/>
            <a:ext cx="28656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0000"/>
                </a:solidFill>
                <a:latin typeface="Aptos"/>
              </a:rPr>
              <a:t>UseMessage.ts</a:t>
            </a:r>
            <a:endParaRPr lang="en-US">
              <a:solidFill>
                <a:srgbClr val="000000"/>
              </a:solidFill>
              <a:latin typeface="Aptos"/>
            </a:endParaRPr>
          </a:p>
          <a:p>
            <a:endParaRPr lang="en-US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59BDD3D-71BF-840B-8BBA-2442E4C8B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1362" y="1411007"/>
            <a:ext cx="52285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85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C0E272-3B95-227E-A300-8785ECB4C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345B9E-A33F-03E1-1118-92D1FD20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F7EAD-25A6-44EF-D5DC-95F40A8B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374" y="326316"/>
            <a:ext cx="3043706" cy="2776509"/>
          </a:xfrm>
          <a:prstGeom prst="rect">
            <a:avLst/>
          </a:prstGeom>
          <a:solidFill>
            <a:srgbClr val="5A4760"/>
          </a:solidFill>
          <a:ln>
            <a:solidFill>
              <a:srgbClr val="5A4760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solidFill>
                  <a:srgbClr val="FFFFFF"/>
                </a:solidFill>
              </a:rPr>
              <a:t>Frontend listener for (recent-messages)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372E4-75F9-8FBB-D0BD-85AC6F008226}"/>
              </a:ext>
            </a:extLst>
          </p:cNvPr>
          <p:cNvSpPr txBox="1"/>
          <p:nvPr/>
        </p:nvSpPr>
        <p:spPr>
          <a:xfrm>
            <a:off x="1405314" y="2453416"/>
            <a:ext cx="28656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solidFill>
                  <a:srgbClr val="000000"/>
                </a:solidFill>
                <a:latin typeface="Aptos"/>
              </a:rPr>
              <a:t>UseMessage.ts</a:t>
            </a:r>
            <a:endParaRPr lang="en-US">
              <a:solidFill>
                <a:srgbClr val="000000"/>
              </a:solidFill>
              <a:latin typeface="Aptos"/>
            </a:endParaRPr>
          </a:p>
          <a:p>
            <a:endParaRPr lang="en-US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5" name="Content Placeholder 4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0341AB42-96C4-38E9-5D24-1137BD8F40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99152" y="1333515"/>
            <a:ext cx="5363604" cy="43513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963FA7-1C32-17E8-5604-05ED7F83D13D}"/>
              </a:ext>
            </a:extLst>
          </p:cNvPr>
          <p:cNvSpPr txBox="1"/>
          <p:nvPr/>
        </p:nvSpPr>
        <p:spPr>
          <a:xfrm>
            <a:off x="6004873" y="5609656"/>
            <a:ext cx="515170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So, </a:t>
            </a:r>
            <a:r>
              <a:rPr lang="en-US" b="1">
                <a:ea typeface="+mn-lt"/>
                <a:cs typeface="+mn-lt"/>
              </a:rPr>
              <a:t>any new message in this community</a:t>
            </a:r>
            <a:r>
              <a:rPr lang="en-US">
                <a:ea typeface="+mn-lt"/>
                <a:cs typeface="+mn-lt"/>
              </a:rPr>
              <a:t> is pushed into the </a:t>
            </a:r>
            <a:r>
              <a:rPr lang="en-US">
                <a:latin typeface="Consolas"/>
              </a:rPr>
              <a:t>messages</a:t>
            </a:r>
            <a:r>
              <a:rPr lang="en-US">
                <a:ea typeface="+mn-lt"/>
                <a:cs typeface="+mn-lt"/>
              </a:rPr>
              <a:t> state.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175B1-48BC-1B0D-24B2-01D8A60F8A3B}"/>
              </a:ext>
            </a:extLst>
          </p:cNvPr>
          <p:cNvSpPr txBox="1"/>
          <p:nvPr/>
        </p:nvSpPr>
        <p:spPr>
          <a:xfrm>
            <a:off x="4762876" y="955215"/>
            <a:ext cx="679777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Consolas"/>
              </a:rPr>
              <a:t>handleMessage</a:t>
            </a:r>
            <a:r>
              <a:rPr lang="en-US">
                <a:ea typeface="+mn-lt"/>
                <a:cs typeface="+mn-lt"/>
              </a:rPr>
              <a:t> is the function that handles incoming messages: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84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FC9F2-0843-C561-356A-6B5A343A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5E356-B7E0-2CDC-2C35-00551137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>
                <a:solidFill>
                  <a:srgbClr val="FFFFFF"/>
                </a:solidFill>
              </a:rPr>
              <a:t>Flow of recent message showing </a:t>
            </a:r>
            <a:br>
              <a:rPr lang="en-US" sz="4000">
                <a:solidFill>
                  <a:srgbClr val="FFFFFF"/>
                </a:solidFill>
              </a:rPr>
            </a:br>
            <a:r>
              <a:rPr lang="en-US" sz="4000">
                <a:solidFill>
                  <a:srgbClr val="FFFFFF"/>
                </a:solidFill>
              </a:rPr>
              <a:t>(server emits and frontend listens—all while joining </a:t>
            </a:r>
            <a:r>
              <a:rPr lang="en-US" sz="4000" err="1">
                <a:solidFill>
                  <a:srgbClr val="FFFFFF"/>
                </a:solidFill>
              </a:rPr>
              <a:t>rooom</a:t>
            </a:r>
            <a:r>
              <a:rPr lang="en-US" sz="4000">
                <a:solidFill>
                  <a:srgbClr val="FFFFFF"/>
                </a:solidFill>
              </a:rPr>
              <a:t>)</a:t>
            </a:r>
          </a:p>
        </p:txBody>
      </p:sp>
      <p:pic>
        <p:nvPicPr>
          <p:cNvPr id="8" name="Content Placeholder 7" descr="A screenshot of a black screen&#10;&#10;AI-generated content may be incorrect.">
            <a:extLst>
              <a:ext uri="{FF2B5EF4-FFF2-40B4-BE49-F238E27FC236}">
                <a16:creationId xmlns:a16="http://schemas.microsoft.com/office/drawing/2014/main" id="{5E146887-685C-3844-B4D7-079A5C5324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5748" y="2826920"/>
            <a:ext cx="5131088" cy="2706648"/>
          </a:xfrm>
          <a:prstGeom prst="rect">
            <a:avLst/>
          </a:prstGeom>
        </p:spPr>
      </p:pic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49548C9-A78A-BE6E-3D01-63BDDBBDD2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165" y="2741543"/>
            <a:ext cx="5131087" cy="2950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66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8B783A-B531-1A86-1857-8D8CFF2B9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78DAC7-3B89-0E11-EA0A-D61605D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35" y="134678"/>
            <a:ext cx="9795638" cy="11143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/>
              <a:t>How send message work ( from </a:t>
            </a:r>
            <a:r>
              <a:rPr lang="en-US" sz="3600" err="1"/>
              <a:t>messageArea</a:t>
            </a:r>
            <a:r>
              <a:rPr lang="en-US" sz="3600"/>
              <a:t> to </a:t>
            </a:r>
            <a:r>
              <a:rPr lang="en-US" sz="3600" err="1"/>
              <a:t>useMessage</a:t>
            </a:r>
            <a:r>
              <a:rPr lang="en-US" sz="3600"/>
              <a:t>)</a:t>
            </a:r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D1354C57-DE60-97B5-D17F-F8C77FEDA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34" y="2242234"/>
            <a:ext cx="5879922" cy="3834424"/>
          </a:xfrm>
          <a:prstGeom prst="rect">
            <a:avLst/>
          </a:prstGeom>
        </p:spPr>
      </p:pic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73BFDA2-9607-56F9-3316-1BFDC07E7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2098" y="2221370"/>
            <a:ext cx="5828261" cy="385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4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532E15-9356-F89A-DA84-901C1E4A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411D9A-D30D-735F-859C-0831B3A9B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819" y="319850"/>
            <a:ext cx="4443154" cy="10878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UseMessage.ts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79254-623B-8E3B-B4AA-C031E41FA4F0}"/>
              </a:ext>
            </a:extLst>
          </p:cNvPr>
          <p:cNvSpPr txBox="1"/>
          <p:nvPr/>
        </p:nvSpPr>
        <p:spPr>
          <a:xfrm>
            <a:off x="411480" y="1405485"/>
            <a:ext cx="4404409" cy="44615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/>
              <a:t>targetId</a:t>
            </a:r>
            <a:r>
              <a:rPr lang="en-US"/>
              <a:t> is derived </a:t>
            </a:r>
            <a:r>
              <a:rPr lang="en-US" b="1"/>
              <a:t>inside the hook</a:t>
            </a:r>
            <a:r>
              <a:rPr lang="en-US"/>
              <a:t> from the props you pass: </a:t>
            </a:r>
            <a:r>
              <a:rPr lang="en-US" err="1"/>
              <a:t>communityId</a:t>
            </a:r>
            <a:r>
              <a:rPr lang="en-US"/>
              <a:t> or </a:t>
            </a:r>
            <a:r>
              <a:rPr lang="en-US" err="1"/>
              <a:t>clanId</a:t>
            </a:r>
            <a:r>
              <a:rPr lang="en-US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So even if you don’t pass it explicitly to </a:t>
            </a:r>
            <a:r>
              <a:rPr lang="en-US" err="1"/>
              <a:t>sendMessageMutation</a:t>
            </a:r>
            <a:r>
              <a:rPr lang="en-US"/>
              <a:t>, it </a:t>
            </a:r>
            <a:r>
              <a:rPr lang="en-US" b="1"/>
              <a:t>has access</a:t>
            </a:r>
            <a:r>
              <a:rPr lang="en-US"/>
              <a:t> to </a:t>
            </a:r>
            <a:r>
              <a:rPr lang="en-US" err="1"/>
              <a:t>targetId</a:t>
            </a:r>
            <a:r>
              <a:rPr lang="en-US"/>
              <a:t> because of </a:t>
            </a:r>
            <a:r>
              <a:rPr lang="en-US" b="1"/>
              <a:t>closure</a:t>
            </a:r>
            <a:r>
              <a:rPr lang="en-US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💡 </a:t>
            </a:r>
            <a:r>
              <a:rPr lang="en-US" sz="2400" b="1"/>
              <a:t>Closure in JS:</a:t>
            </a:r>
            <a:br>
              <a:rPr lang="en-US" b="1"/>
            </a:br>
            <a:r>
              <a:rPr lang="en-US" b="1"/>
              <a:t> Functions inside a scope “remember” variables from their outer scope. Here: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/>
              <a:t>sendMessageMutation.mutate</a:t>
            </a:r>
            <a:r>
              <a:rPr lang="en-US"/>
              <a:t>(content) calls </a:t>
            </a:r>
            <a:r>
              <a:rPr lang="en-US" err="1"/>
              <a:t>mutationFn</a:t>
            </a:r>
            <a:r>
              <a:rPr lang="en-US"/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err="1"/>
              <a:t>mutationFn</a:t>
            </a:r>
            <a:r>
              <a:rPr lang="en-US"/>
              <a:t> can still access </a:t>
            </a:r>
            <a:r>
              <a:rPr lang="en-US" err="1"/>
              <a:t>targetId</a:t>
            </a:r>
            <a:r>
              <a:rPr lang="en-US"/>
              <a:t> because it’s defined in the same hook scope.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So as long as you call </a:t>
            </a:r>
            <a:r>
              <a:rPr lang="en-US" err="1"/>
              <a:t>useMessages</a:t>
            </a:r>
            <a:r>
              <a:rPr lang="en-US"/>
              <a:t>({ </a:t>
            </a:r>
            <a:r>
              <a:rPr lang="en-US" err="1"/>
              <a:t>communityId</a:t>
            </a:r>
            <a:r>
              <a:rPr lang="en-US"/>
              <a:t>, </a:t>
            </a:r>
            <a:r>
              <a:rPr lang="en-US" err="1"/>
              <a:t>clanId</a:t>
            </a:r>
            <a:r>
              <a:rPr lang="en-US"/>
              <a:t>, type }), </a:t>
            </a:r>
            <a:r>
              <a:rPr lang="en-US" err="1"/>
              <a:t>targetId</a:t>
            </a:r>
            <a:r>
              <a:rPr lang="en-US"/>
              <a:t> is available inside the mutation function.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10" name="Picture 9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021E16F3-82F1-FDCF-A254-358EA3351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988" y="625683"/>
            <a:ext cx="52320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42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B65AB-5729-A7FA-B367-F75EFDEAB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01608-2270-394F-AD9A-23EEBC1DF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/>
              <a:t>LoadMore function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6654A1-02F7-4250-0A5B-7C094A36D2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9" r="2" b="2"/>
          <a:stretch>
            <a:fillRect/>
          </a:stretch>
        </p:blipFill>
        <p:spPr>
          <a:xfrm>
            <a:off x="6941370" y="-1175"/>
            <a:ext cx="4890573" cy="6853865"/>
          </a:xfrm>
          <a:prstGeom prst="rect">
            <a:avLst/>
          </a:prstGeom>
        </p:spPr>
      </p:pic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D89FFDF1-7270-8C1D-E918-B2136EB83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67" y="2010971"/>
            <a:ext cx="5431536" cy="404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95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890BB-6CDC-A6DB-DEF8-9021221A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B3400B-26EF-C6C8-66F9-383D7BB2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LoadMore function</a:t>
            </a:r>
          </a:p>
        </p:txBody>
      </p:sp>
      <p:sp>
        <p:nvSpPr>
          <p:cNvPr id="97" name="Arc 9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CCA4CB6-E018-46DC-45B7-4F6080EF0507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Purpose of loadMore function: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Loads </a:t>
            </a:r>
            <a:r>
              <a:rPr lang="en-US" b="1"/>
              <a:t>previous messages</a:t>
            </a:r>
            <a:r>
              <a:rPr lang="en-US"/>
              <a:t> (pagination) when user scrolls up.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Keeps chat </a:t>
            </a:r>
            <a:r>
              <a:rPr lang="en-US" b="1"/>
              <a:t>scroll position stable</a:t>
            </a:r>
            <a:r>
              <a:rPr lang="en-US"/>
              <a:t> so it doesn’t jump.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Key points to remember:</a:t>
            </a:r>
            <a:endParaRPr lang="en-US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Checks if targetId exists and if there are more messages to load.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Fetches </a:t>
            </a:r>
            <a:r>
              <a:rPr lang="en-US" b="1"/>
              <a:t>next page of messages</a:t>
            </a:r>
            <a:r>
              <a:rPr lang="en-US"/>
              <a:t> from API (getCommunityMessages / getClanMessages).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Prepends new messages to the existing messages state.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Uses </a:t>
            </a:r>
            <a:r>
              <a:rPr lang="en-US" b="1"/>
              <a:t>scroll height calculation</a:t>
            </a:r>
            <a:r>
              <a:rPr lang="en-US"/>
              <a:t> to maintain scroll position (oldScrollHeight → newScrollHeight).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Triggered when user scrolls to </a:t>
            </a:r>
            <a:r>
              <a:rPr lang="en-US" b="1"/>
              <a:t>top of the chat container</a:t>
            </a:r>
            <a:r>
              <a:rPr lang="en-US"/>
              <a:t>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It ensures </a:t>
            </a:r>
            <a:r>
              <a:rPr lang="en-US" b="1"/>
              <a:t>infinite scroll for older messages</a:t>
            </a:r>
            <a:r>
              <a:rPr lang="en-US"/>
              <a:t> without breaking the chat view.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4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F32B9B-38C5-2789-41CE-9CAA54D23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8B0511D1-9B88-B7FE-2367-A8880CFCF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77428E64-4557-CDC6-9700-C422B3131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79BA5B-5C83-5802-262A-DEF007C27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" y="1153572"/>
            <a:ext cx="4679576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Workingstructure</a:t>
            </a:r>
            <a:r>
              <a:rPr lang="en-US" dirty="0">
                <a:solidFill>
                  <a:srgbClr val="FFFFFF"/>
                </a:solidFill>
              </a:rPr>
              <a:t> flow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97" name="Arc 96">
            <a:extLst>
              <a:ext uri="{FF2B5EF4-FFF2-40B4-BE49-F238E27FC236}">
                <a16:creationId xmlns:a16="http://schemas.microsoft.com/office/drawing/2014/main" id="{67A79AC7-523D-81F1-F016-F63052242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13833C7-DCFA-E5A8-F2D1-6CF0CB85A08D}"/>
              </a:ext>
            </a:extLst>
          </p:cNvPr>
          <p:cNvSpPr txBox="1"/>
          <p:nvPr/>
        </p:nvSpPr>
        <p:spPr>
          <a:xfrm>
            <a:off x="4447308" y="591344"/>
            <a:ext cx="6906491" cy="558561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>
                <a:ea typeface="+mn-lt"/>
                <a:cs typeface="+mn-lt"/>
              </a:rPr>
              <a:t>┌──────────────┐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  FRONTEND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user opens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community chat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└──────┬────────┘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│ </a:t>
            </a:r>
            <a:r>
              <a:rPr lang="en-US" dirty="0" err="1">
                <a:ea typeface="+mn-lt"/>
                <a:cs typeface="+mn-lt"/>
              </a:rPr>
              <a:t>joinCommunity</a:t>
            </a:r>
            <a:r>
              <a:rPr lang="en-US" dirty="0">
                <a:ea typeface="+mn-lt"/>
                <a:cs typeface="+mn-lt"/>
              </a:rPr>
              <a:t>()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v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┌──────────────┐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   BACKEND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user joins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load last 50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└──────┬────────┘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│ emit("recent-messages")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v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┌──────────────┐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FRONTEND 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</a:t>
            </a:r>
            <a:r>
              <a:rPr lang="en-US" dirty="0" err="1">
                <a:ea typeface="+mn-lt"/>
                <a:cs typeface="+mn-lt"/>
              </a:rPr>
              <a:t>socket.on</a:t>
            </a:r>
            <a:r>
              <a:rPr lang="en-US" dirty="0">
                <a:ea typeface="+mn-lt"/>
                <a:cs typeface="+mn-lt"/>
              </a:rPr>
              <a:t>("recent-messages") → load old </a:t>
            </a:r>
            <a:r>
              <a:rPr lang="en-US" dirty="0" err="1">
                <a:ea typeface="+mn-lt"/>
                <a:cs typeface="+mn-lt"/>
              </a:rPr>
              <a:t>msgs</a:t>
            </a:r>
            <a:endParaRPr lang="en-US" dirty="0" err="1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└──────┬────────┘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User sends new message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v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┌──────────────┐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BACKEND  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save to DB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emit("</a:t>
            </a:r>
            <a:r>
              <a:rPr lang="en-US" dirty="0" err="1">
                <a:ea typeface="+mn-lt"/>
                <a:cs typeface="+mn-lt"/>
              </a:rPr>
              <a:t>community:new-message</a:t>
            </a:r>
            <a:r>
              <a:rPr lang="en-US" dirty="0">
                <a:ea typeface="+mn-lt"/>
                <a:cs typeface="+mn-lt"/>
              </a:rPr>
              <a:t>")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└──────┬────────┘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        v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┌──────────────┐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FRONTEND      │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│ </a:t>
            </a:r>
            <a:r>
              <a:rPr lang="en-US" dirty="0" err="1">
                <a:ea typeface="+mn-lt"/>
                <a:cs typeface="+mn-lt"/>
              </a:rPr>
              <a:t>socket.on</a:t>
            </a:r>
            <a:r>
              <a:rPr lang="en-US" dirty="0">
                <a:ea typeface="+mn-lt"/>
                <a:cs typeface="+mn-lt"/>
              </a:rPr>
              <a:t>("</a:t>
            </a:r>
            <a:r>
              <a:rPr lang="en-US" dirty="0" err="1">
                <a:ea typeface="+mn-lt"/>
                <a:cs typeface="+mn-lt"/>
              </a:rPr>
              <a:t>community:new-message</a:t>
            </a:r>
            <a:r>
              <a:rPr lang="en-US" dirty="0">
                <a:ea typeface="+mn-lt"/>
                <a:cs typeface="+mn-lt"/>
              </a:rPr>
              <a:t>") → add new msg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└──────────────┘</a:t>
            </a:r>
            <a:endParaRPr lang="en-US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7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Socket IO </vt:lpstr>
      <vt:lpstr>SocketProvider</vt:lpstr>
      <vt:lpstr>connectSocket</vt:lpstr>
      <vt:lpstr>GetSocket()</vt:lpstr>
      <vt:lpstr>Phase 1 – Initial Setup ( Frontned)</vt:lpstr>
      <vt:lpstr>PowerPoint Presentation</vt:lpstr>
      <vt:lpstr>Auth middleware (backend)</vt:lpstr>
      <vt:lpstr>InitializeSocket()</vt:lpstr>
      <vt:lpstr>(Backend)} chatSocketHandler</vt:lpstr>
      <vt:lpstr>Frontend---when community is clicked </vt:lpstr>
      <vt:lpstr>Flow Frontend to backend response</vt:lpstr>
      <vt:lpstr>Join room process</vt:lpstr>
      <vt:lpstr>Backend listener for (join-community)</vt:lpstr>
      <vt:lpstr>Frontend listener for (recent-messages)</vt:lpstr>
      <vt:lpstr>Frontend listener for (recent-messages)</vt:lpstr>
      <vt:lpstr>Flow of recent message showing  (server emits and frontend listens—all while joining rooom)</vt:lpstr>
      <vt:lpstr>How send message work ( from messageArea to useMessage)</vt:lpstr>
      <vt:lpstr>UseMessage.ts</vt:lpstr>
      <vt:lpstr>LoadMore function</vt:lpstr>
      <vt:lpstr>LoadMore function</vt:lpstr>
      <vt:lpstr>Workingstructure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37</cp:revision>
  <dcterms:created xsi:type="dcterms:W3CDTF">2025-11-20T05:54:53Z</dcterms:created>
  <dcterms:modified xsi:type="dcterms:W3CDTF">2025-11-22T04:16:59Z</dcterms:modified>
</cp:coreProperties>
</file>